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Garet Bold" charset="1" panose="00000000000000000000"/>
      <p:regular r:id="rId20"/>
    </p:embeddedFont>
    <p:embeddedFont>
      <p:font typeface="Poppins" charset="1" panose="00000500000000000000"/>
      <p:regular r:id="rId21"/>
    </p:embeddedFont>
    <p:embeddedFont>
      <p:font typeface="Garet" charset="1" panose="00000000000000000000"/>
      <p:regular r:id="rId22"/>
    </p:embeddedFont>
    <p:embeddedFont>
      <p:font typeface="Poppins Bold" charset="1" panose="00000800000000000000"/>
      <p:regular r:id="rId23"/>
    </p:embeddedFont>
    <p:embeddedFont>
      <p:font typeface="Anton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31" r="0" b="-1373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5517" y="3380583"/>
            <a:ext cx="9916966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SAFE-FPID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81367" y="4756942"/>
            <a:ext cx="11725266" cy="137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EE3F1E"/>
                </a:solidFill>
                <a:latin typeface="Garet Bold"/>
                <a:ea typeface="Garet Bold"/>
                <a:cs typeface="Garet Bold"/>
                <a:sym typeface="Garet Bold"/>
              </a:rPr>
              <a:t>Safety Aware &amp; Fast Execution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E3F1E"/>
                </a:solidFill>
                <a:latin typeface="Garet Bold"/>
                <a:ea typeface="Garet Bold"/>
                <a:cs typeface="Garet Bold"/>
                <a:sym typeface="Garet Bold"/>
              </a:rPr>
              <a:t>Fuzzy PID via Bare-Metal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4637" y="6274592"/>
            <a:ext cx="833872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9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832004" y="3276845"/>
            <a:ext cx="6472919" cy="4315055"/>
            <a:chOff x="0" y="0"/>
            <a:chExt cx="121926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63" cy="812800"/>
            </a:xfrm>
            <a:custGeom>
              <a:avLst/>
              <a:gdLst/>
              <a:ahLst/>
              <a:cxnLst/>
              <a:rect r="r" b="b" t="t" l="l"/>
              <a:pathLst>
                <a:path h="812800" w="1219263">
                  <a:moveTo>
                    <a:pt x="0" y="0"/>
                  </a:moveTo>
                  <a:lnTo>
                    <a:pt x="1219263" y="0"/>
                  </a:lnTo>
                  <a:lnTo>
                    <a:pt x="121926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4321" t="0" r="-419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96890" y="7151796"/>
            <a:ext cx="5865492" cy="1332321"/>
            <a:chOff x="0" y="0"/>
            <a:chExt cx="1148860" cy="2609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860" cy="260959"/>
            </a:xfrm>
            <a:custGeom>
              <a:avLst/>
              <a:gdLst/>
              <a:ahLst/>
              <a:cxnLst/>
              <a:rect r="r" b="b" t="t" l="l"/>
              <a:pathLst>
                <a:path h="260959" w="1148860">
                  <a:moveTo>
                    <a:pt x="0" y="0"/>
                  </a:moveTo>
                  <a:lnTo>
                    <a:pt x="1148860" y="0"/>
                  </a:lnTo>
                  <a:lnTo>
                    <a:pt x="1148860" y="260959"/>
                  </a:lnTo>
                  <a:lnTo>
                    <a:pt x="0" y="260959"/>
                  </a:lnTo>
                  <a:close/>
                </a:path>
              </a:pathLst>
            </a:custGeom>
            <a:solidFill>
              <a:srgbClr val="EE3F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8860" cy="299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83076" y="3276845"/>
            <a:ext cx="6472919" cy="4315055"/>
            <a:chOff x="0" y="0"/>
            <a:chExt cx="1219263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63" cy="812800"/>
            </a:xfrm>
            <a:custGeom>
              <a:avLst/>
              <a:gdLst/>
              <a:ahLst/>
              <a:cxnLst/>
              <a:rect r="r" b="b" t="t" l="l"/>
              <a:pathLst>
                <a:path h="812800" w="1219263">
                  <a:moveTo>
                    <a:pt x="0" y="0"/>
                  </a:moveTo>
                  <a:lnTo>
                    <a:pt x="1219263" y="0"/>
                  </a:lnTo>
                  <a:lnTo>
                    <a:pt x="121926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59" t="0" r="-5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12847" y="7151796"/>
            <a:ext cx="5413378" cy="1332321"/>
            <a:chOff x="0" y="0"/>
            <a:chExt cx="1060305" cy="2609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306" cy="260959"/>
            </a:xfrm>
            <a:custGeom>
              <a:avLst/>
              <a:gdLst/>
              <a:ahLst/>
              <a:cxnLst/>
              <a:rect r="r" b="b" t="t" l="l"/>
              <a:pathLst>
                <a:path h="260959" w="1060306">
                  <a:moveTo>
                    <a:pt x="0" y="0"/>
                  </a:moveTo>
                  <a:lnTo>
                    <a:pt x="1060306" y="0"/>
                  </a:lnTo>
                  <a:lnTo>
                    <a:pt x="1060306" y="260959"/>
                  </a:lnTo>
                  <a:lnTo>
                    <a:pt x="0" y="260959"/>
                  </a:lnTo>
                  <a:close/>
                </a:path>
              </a:pathLst>
            </a:custGeom>
            <a:solidFill>
              <a:srgbClr val="EE3F1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0305" cy="299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84527" y="7341484"/>
            <a:ext cx="5755512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 b="true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Klanish Andayana Kanugraha</a:t>
            </a:r>
          </a:p>
          <a:p>
            <a:pPr algn="ctr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2042241033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04737" y="1663945"/>
            <a:ext cx="286078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MEET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8286" y="1663945"/>
            <a:ext cx="4914977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01893" y="7341484"/>
            <a:ext cx="4435286" cy="9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 b="true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Lionel Valentino Tanjung</a:t>
            </a:r>
          </a:p>
          <a:p>
            <a:pPr algn="ctr">
              <a:lnSpc>
                <a:spcPts val="3765"/>
              </a:lnSpc>
              <a:spcBef>
                <a:spcPct val="0"/>
              </a:spcBef>
            </a:pPr>
            <a:r>
              <a:rPr lang="en-US" b="true" sz="2689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2042241078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70780" y="2207755"/>
            <a:ext cx="5364468" cy="2763344"/>
            <a:chOff x="0" y="0"/>
            <a:chExt cx="812800" cy="418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18689"/>
            </a:xfrm>
            <a:custGeom>
              <a:avLst/>
              <a:gdLst/>
              <a:ahLst/>
              <a:cxnLst/>
              <a:rect r="r" b="b" t="t" l="l"/>
              <a:pathLst>
                <a:path h="418689" w="812800">
                  <a:moveTo>
                    <a:pt x="33193" y="0"/>
                  </a:moveTo>
                  <a:lnTo>
                    <a:pt x="779607" y="0"/>
                  </a:lnTo>
                  <a:cubicBezTo>
                    <a:pt x="797939" y="0"/>
                    <a:pt x="812800" y="14861"/>
                    <a:pt x="812800" y="33193"/>
                  </a:cubicBezTo>
                  <a:lnTo>
                    <a:pt x="812800" y="385496"/>
                  </a:lnTo>
                  <a:cubicBezTo>
                    <a:pt x="812800" y="394300"/>
                    <a:pt x="809303" y="402742"/>
                    <a:pt x="803078" y="408967"/>
                  </a:cubicBezTo>
                  <a:cubicBezTo>
                    <a:pt x="796853" y="415192"/>
                    <a:pt x="788410" y="418689"/>
                    <a:pt x="779607" y="418689"/>
                  </a:cubicBezTo>
                  <a:lnTo>
                    <a:pt x="33193" y="418689"/>
                  </a:lnTo>
                  <a:cubicBezTo>
                    <a:pt x="14861" y="418689"/>
                    <a:pt x="0" y="403828"/>
                    <a:pt x="0" y="385496"/>
                  </a:cubicBezTo>
                  <a:lnTo>
                    <a:pt x="0" y="33193"/>
                  </a:lnTo>
                  <a:cubicBezTo>
                    <a:pt x="0" y="14861"/>
                    <a:pt x="14861" y="0"/>
                    <a:pt x="33193" y="0"/>
                  </a:cubicBezTo>
                  <a:close/>
                </a:path>
              </a:pathLst>
            </a:custGeom>
            <a:blipFill>
              <a:blip r:embed="rId2"/>
              <a:stretch>
                <a:fillRect l="-2090" t="0" r="-11687" b="-836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70780" y="5315901"/>
            <a:ext cx="5364468" cy="2763344"/>
            <a:chOff x="0" y="0"/>
            <a:chExt cx="812800" cy="4186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18689"/>
            </a:xfrm>
            <a:custGeom>
              <a:avLst/>
              <a:gdLst/>
              <a:ahLst/>
              <a:cxnLst/>
              <a:rect r="r" b="b" t="t" l="l"/>
              <a:pathLst>
                <a:path h="418689" w="812800">
                  <a:moveTo>
                    <a:pt x="33193" y="0"/>
                  </a:moveTo>
                  <a:lnTo>
                    <a:pt x="779607" y="0"/>
                  </a:lnTo>
                  <a:cubicBezTo>
                    <a:pt x="797939" y="0"/>
                    <a:pt x="812800" y="14861"/>
                    <a:pt x="812800" y="33193"/>
                  </a:cubicBezTo>
                  <a:lnTo>
                    <a:pt x="812800" y="385496"/>
                  </a:lnTo>
                  <a:cubicBezTo>
                    <a:pt x="812800" y="394300"/>
                    <a:pt x="809303" y="402742"/>
                    <a:pt x="803078" y="408967"/>
                  </a:cubicBezTo>
                  <a:cubicBezTo>
                    <a:pt x="796853" y="415192"/>
                    <a:pt x="788410" y="418689"/>
                    <a:pt x="779607" y="418689"/>
                  </a:cubicBezTo>
                  <a:lnTo>
                    <a:pt x="33193" y="418689"/>
                  </a:lnTo>
                  <a:cubicBezTo>
                    <a:pt x="14861" y="418689"/>
                    <a:pt x="0" y="403828"/>
                    <a:pt x="0" y="385496"/>
                  </a:cubicBezTo>
                  <a:lnTo>
                    <a:pt x="0" y="33193"/>
                  </a:lnTo>
                  <a:cubicBezTo>
                    <a:pt x="0" y="14861"/>
                    <a:pt x="14861" y="0"/>
                    <a:pt x="3319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827" r="0" b="-8827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4167912"/>
            <a:ext cx="642907" cy="642907"/>
            <a:chOff x="0" y="0"/>
            <a:chExt cx="857210" cy="85721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7210" cy="85721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3F1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1474" y="131213"/>
              <a:ext cx="474262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517674"/>
            <a:ext cx="642907" cy="642907"/>
            <a:chOff x="0" y="0"/>
            <a:chExt cx="857210" cy="85721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57210" cy="85721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3F1E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91474" y="131213"/>
              <a:ext cx="474262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867049"/>
            <a:ext cx="642907" cy="642907"/>
            <a:chOff x="0" y="0"/>
            <a:chExt cx="857210" cy="85721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57210" cy="85721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E3F1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91474" y="131213"/>
              <a:ext cx="474262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1801728"/>
            <a:ext cx="262463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AKAR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4113" y="3948029"/>
            <a:ext cx="706917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Fungsi CPU yang sibuk, membuat mikrokontroler "terkunci" dan tidak bisa mengerjakan hal lain saat sedang menunggu data sensor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94113" y="5297790"/>
            <a:ext cx="706917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enyimpanan data sementara (RAM) sering penuh karena terlalu banyak perintah yang menumpuk, yang bisa membuat sistem crash atau macet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94113" y="6647165"/>
            <a:ext cx="706917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Saat te</a:t>
            </a: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rjadi panas berlebih, sistem lama butuh waktu lama untuk merespons karena perintahnya antre, yang bisa membahayakan alat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53339" y="1801728"/>
            <a:ext cx="45836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MASALAH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3194919"/>
            <a:ext cx="945030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</a:t>
            </a:r>
            <a:r>
              <a:rPr lang="en-US" b="true" sz="26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elemahan Kontroler Konvensional (Berbasis Library):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7977490"/>
            <a:ext cx="9450302" cy="90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Dibutuhkan sist</a:t>
            </a: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em yang lebih "pintar" agar CPU tidak kelelahan dan bisa bereaksi instan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1143" y="2711668"/>
            <a:ext cx="7877973" cy="5411682"/>
            <a:chOff x="0" y="0"/>
            <a:chExt cx="1733574" cy="1190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574" cy="1190859"/>
            </a:xfrm>
            <a:custGeom>
              <a:avLst/>
              <a:gdLst/>
              <a:ahLst/>
              <a:cxnLst/>
              <a:rect r="r" b="b" t="t" l="l"/>
              <a:pathLst>
                <a:path h="1190859" w="1733574">
                  <a:moveTo>
                    <a:pt x="22603" y="0"/>
                  </a:moveTo>
                  <a:lnTo>
                    <a:pt x="1710972" y="0"/>
                  </a:lnTo>
                  <a:cubicBezTo>
                    <a:pt x="1716966" y="0"/>
                    <a:pt x="1722715" y="2381"/>
                    <a:pt x="1726954" y="6620"/>
                  </a:cubicBezTo>
                  <a:cubicBezTo>
                    <a:pt x="1731193" y="10859"/>
                    <a:pt x="1733574" y="16608"/>
                    <a:pt x="1733574" y="22603"/>
                  </a:cubicBezTo>
                  <a:lnTo>
                    <a:pt x="1733574" y="1168256"/>
                  </a:lnTo>
                  <a:cubicBezTo>
                    <a:pt x="1733574" y="1180739"/>
                    <a:pt x="1723455" y="1190859"/>
                    <a:pt x="1710972" y="1190859"/>
                  </a:cubicBezTo>
                  <a:lnTo>
                    <a:pt x="22603" y="1190859"/>
                  </a:lnTo>
                  <a:cubicBezTo>
                    <a:pt x="10120" y="1190859"/>
                    <a:pt x="0" y="1180739"/>
                    <a:pt x="0" y="1168256"/>
                  </a:cubicBezTo>
                  <a:lnTo>
                    <a:pt x="0" y="22603"/>
                  </a:lnTo>
                  <a:cubicBezTo>
                    <a:pt x="0" y="16608"/>
                    <a:pt x="2381" y="10859"/>
                    <a:pt x="6620" y="6620"/>
                  </a:cubicBezTo>
                  <a:cubicBezTo>
                    <a:pt x="10859" y="2381"/>
                    <a:pt x="16608" y="0"/>
                    <a:pt x="22603" y="0"/>
                  </a:cubicBezTo>
                  <a:close/>
                </a:path>
              </a:pathLst>
            </a:custGeom>
            <a:blipFill>
              <a:blip r:embed="rId2"/>
              <a:stretch>
                <a:fillRect l="-3074" t="0" r="-3074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31" y="2288655"/>
            <a:ext cx="473215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TOPOLOGI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74909"/>
            <a:ext cx="7457668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dari sensor langsung masuk ke tempat penyimpanan tanpa perlu bantuan atau "pengawasan" dari CPU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 mengecek kondisi suhu sebelum data diproses, jadi sangat aman.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CPU hanya fokus menghitung keputusan kendali saja, tidak lagi mengurusi lalu lintas data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dikirim ke layar pantauan secara bersamaan tanpa mengganggu proses utama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60880" y="2288655"/>
            <a:ext cx="301602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091320"/>
            <a:ext cx="16230600" cy="4828603"/>
          </a:xfrm>
          <a:custGeom>
            <a:avLst/>
            <a:gdLst/>
            <a:ahLst/>
            <a:cxnLst/>
            <a:rect r="r" b="b" t="t" l="l"/>
            <a:pathLst>
              <a:path h="4828603" w="16230600">
                <a:moveTo>
                  <a:pt x="0" y="0"/>
                </a:moveTo>
                <a:lnTo>
                  <a:pt x="16230600" y="0"/>
                </a:lnTo>
                <a:lnTo>
                  <a:pt x="16230600" y="4828604"/>
                </a:lnTo>
                <a:lnTo>
                  <a:pt x="0" y="4828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18242" y="1621295"/>
            <a:ext cx="450237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20612" y="1621295"/>
            <a:ext cx="2549146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9"/>
              </a:lnSpc>
            </a:pPr>
            <a:r>
              <a:rPr lang="en-US" b="true" sz="6999">
                <a:solidFill>
                  <a:srgbClr val="EC6737"/>
                </a:solidFill>
                <a:latin typeface="Poppins Bold"/>
                <a:ea typeface="Poppins Bold"/>
                <a:cs typeface="Poppins Bold"/>
                <a:sym typeface="Poppins Bold"/>
              </a:rPr>
              <a:t>BLOK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096247" y="4552797"/>
            <a:ext cx="3548863" cy="4081691"/>
            <a:chOff x="0" y="0"/>
            <a:chExt cx="744974" cy="8568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4974" cy="856824"/>
            </a:xfrm>
            <a:custGeom>
              <a:avLst/>
              <a:gdLst/>
              <a:ahLst/>
              <a:cxnLst/>
              <a:rect r="r" b="b" t="t" l="l"/>
              <a:pathLst>
                <a:path h="856824" w="744974">
                  <a:moveTo>
                    <a:pt x="52357" y="0"/>
                  </a:moveTo>
                  <a:lnTo>
                    <a:pt x="692617" y="0"/>
                  </a:lnTo>
                  <a:cubicBezTo>
                    <a:pt x="721533" y="0"/>
                    <a:pt x="744974" y="23441"/>
                    <a:pt x="744974" y="52357"/>
                  </a:cubicBezTo>
                  <a:lnTo>
                    <a:pt x="744974" y="804468"/>
                  </a:lnTo>
                  <a:cubicBezTo>
                    <a:pt x="744974" y="818354"/>
                    <a:pt x="739458" y="831671"/>
                    <a:pt x="729639" y="841490"/>
                  </a:cubicBezTo>
                  <a:cubicBezTo>
                    <a:pt x="719820" y="851308"/>
                    <a:pt x="706503" y="856824"/>
                    <a:pt x="692617" y="856824"/>
                  </a:cubicBezTo>
                  <a:lnTo>
                    <a:pt x="52357" y="856824"/>
                  </a:lnTo>
                  <a:cubicBezTo>
                    <a:pt x="38471" y="856824"/>
                    <a:pt x="25154" y="851308"/>
                    <a:pt x="15335" y="841490"/>
                  </a:cubicBezTo>
                  <a:cubicBezTo>
                    <a:pt x="5516" y="831671"/>
                    <a:pt x="0" y="818354"/>
                    <a:pt x="0" y="804468"/>
                  </a:cubicBezTo>
                  <a:lnTo>
                    <a:pt x="0" y="52357"/>
                  </a:lnTo>
                  <a:cubicBezTo>
                    <a:pt x="0" y="38471"/>
                    <a:pt x="5516" y="25154"/>
                    <a:pt x="15335" y="15335"/>
                  </a:cubicBezTo>
                  <a:cubicBezTo>
                    <a:pt x="25154" y="5516"/>
                    <a:pt x="38471" y="0"/>
                    <a:pt x="52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44974" cy="8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42890" y="4600791"/>
            <a:ext cx="3548863" cy="4081691"/>
            <a:chOff x="0" y="0"/>
            <a:chExt cx="744974" cy="856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974" cy="856824"/>
            </a:xfrm>
            <a:custGeom>
              <a:avLst/>
              <a:gdLst/>
              <a:ahLst/>
              <a:cxnLst/>
              <a:rect r="r" b="b" t="t" l="l"/>
              <a:pathLst>
                <a:path h="856824" w="744974">
                  <a:moveTo>
                    <a:pt x="52357" y="0"/>
                  </a:moveTo>
                  <a:lnTo>
                    <a:pt x="692617" y="0"/>
                  </a:lnTo>
                  <a:cubicBezTo>
                    <a:pt x="721533" y="0"/>
                    <a:pt x="744974" y="23441"/>
                    <a:pt x="744974" y="52357"/>
                  </a:cubicBezTo>
                  <a:lnTo>
                    <a:pt x="744974" y="804468"/>
                  </a:lnTo>
                  <a:cubicBezTo>
                    <a:pt x="744974" y="818354"/>
                    <a:pt x="739458" y="831671"/>
                    <a:pt x="729639" y="841490"/>
                  </a:cubicBezTo>
                  <a:cubicBezTo>
                    <a:pt x="719820" y="851308"/>
                    <a:pt x="706503" y="856824"/>
                    <a:pt x="692617" y="856824"/>
                  </a:cubicBezTo>
                  <a:lnTo>
                    <a:pt x="52357" y="856824"/>
                  </a:lnTo>
                  <a:cubicBezTo>
                    <a:pt x="38471" y="856824"/>
                    <a:pt x="25154" y="851308"/>
                    <a:pt x="15335" y="841490"/>
                  </a:cubicBezTo>
                  <a:cubicBezTo>
                    <a:pt x="5516" y="831671"/>
                    <a:pt x="0" y="818354"/>
                    <a:pt x="0" y="804468"/>
                  </a:cubicBezTo>
                  <a:lnTo>
                    <a:pt x="0" y="52357"/>
                  </a:lnTo>
                  <a:cubicBezTo>
                    <a:pt x="0" y="38471"/>
                    <a:pt x="5516" y="25154"/>
                    <a:pt x="15335" y="15335"/>
                  </a:cubicBezTo>
                  <a:cubicBezTo>
                    <a:pt x="25154" y="5516"/>
                    <a:pt x="38471" y="0"/>
                    <a:pt x="5235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44974" cy="8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68126" y="4600791"/>
            <a:ext cx="3548863" cy="4081691"/>
            <a:chOff x="0" y="0"/>
            <a:chExt cx="744974" cy="856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4974" cy="856824"/>
            </a:xfrm>
            <a:custGeom>
              <a:avLst/>
              <a:gdLst/>
              <a:ahLst/>
              <a:cxnLst/>
              <a:rect r="r" b="b" t="t" l="l"/>
              <a:pathLst>
                <a:path h="856824" w="744974">
                  <a:moveTo>
                    <a:pt x="52357" y="0"/>
                  </a:moveTo>
                  <a:lnTo>
                    <a:pt x="692617" y="0"/>
                  </a:lnTo>
                  <a:cubicBezTo>
                    <a:pt x="721533" y="0"/>
                    <a:pt x="744974" y="23441"/>
                    <a:pt x="744974" y="52357"/>
                  </a:cubicBezTo>
                  <a:lnTo>
                    <a:pt x="744974" y="804468"/>
                  </a:lnTo>
                  <a:cubicBezTo>
                    <a:pt x="744974" y="818354"/>
                    <a:pt x="739458" y="831671"/>
                    <a:pt x="729639" y="841490"/>
                  </a:cubicBezTo>
                  <a:cubicBezTo>
                    <a:pt x="719820" y="851308"/>
                    <a:pt x="706503" y="856824"/>
                    <a:pt x="692617" y="856824"/>
                  </a:cubicBezTo>
                  <a:lnTo>
                    <a:pt x="52357" y="856824"/>
                  </a:lnTo>
                  <a:cubicBezTo>
                    <a:pt x="38471" y="856824"/>
                    <a:pt x="25154" y="851308"/>
                    <a:pt x="15335" y="841490"/>
                  </a:cubicBezTo>
                  <a:cubicBezTo>
                    <a:pt x="5516" y="831671"/>
                    <a:pt x="0" y="818354"/>
                    <a:pt x="0" y="804468"/>
                  </a:cubicBezTo>
                  <a:lnTo>
                    <a:pt x="0" y="52357"/>
                  </a:lnTo>
                  <a:cubicBezTo>
                    <a:pt x="0" y="38471"/>
                    <a:pt x="5516" y="25154"/>
                    <a:pt x="15335" y="15335"/>
                  </a:cubicBezTo>
                  <a:cubicBezTo>
                    <a:pt x="25154" y="5516"/>
                    <a:pt x="38471" y="0"/>
                    <a:pt x="523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44974" cy="8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54917" y="5143500"/>
            <a:ext cx="1324808" cy="1324808"/>
          </a:xfrm>
          <a:custGeom>
            <a:avLst/>
            <a:gdLst/>
            <a:ahLst/>
            <a:cxnLst/>
            <a:rect r="r" b="b" t="t" l="l"/>
            <a:pathLst>
              <a:path h="1324808" w="1324808">
                <a:moveTo>
                  <a:pt x="0" y="0"/>
                </a:moveTo>
                <a:lnTo>
                  <a:pt x="1324809" y="0"/>
                </a:lnTo>
                <a:lnTo>
                  <a:pt x="1324809" y="1324808"/>
                </a:lnTo>
                <a:lnTo>
                  <a:pt x="0" y="132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06613" y="5143500"/>
            <a:ext cx="1271888" cy="1266029"/>
          </a:xfrm>
          <a:custGeom>
            <a:avLst/>
            <a:gdLst/>
            <a:ahLst/>
            <a:cxnLst/>
            <a:rect r="r" b="b" t="t" l="l"/>
            <a:pathLst>
              <a:path h="1266029" w="1271888">
                <a:moveTo>
                  <a:pt x="0" y="0"/>
                </a:moveTo>
                <a:lnTo>
                  <a:pt x="1271889" y="0"/>
                </a:lnTo>
                <a:lnTo>
                  <a:pt x="1271889" y="1266029"/>
                </a:lnTo>
                <a:lnTo>
                  <a:pt x="0" y="1266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86625" y="5175522"/>
            <a:ext cx="1205749" cy="1260764"/>
          </a:xfrm>
          <a:custGeom>
            <a:avLst/>
            <a:gdLst/>
            <a:ahLst/>
            <a:cxnLst/>
            <a:rect r="r" b="b" t="t" l="l"/>
            <a:pathLst>
              <a:path h="1260764" w="1205749">
                <a:moveTo>
                  <a:pt x="0" y="0"/>
                </a:moveTo>
                <a:lnTo>
                  <a:pt x="1205749" y="0"/>
                </a:lnTo>
                <a:lnTo>
                  <a:pt x="1205749" y="1260764"/>
                </a:lnTo>
                <a:lnTo>
                  <a:pt x="0" y="12607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64634" y="1570271"/>
            <a:ext cx="638661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PEMBACAAN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57287" y="1570271"/>
            <a:ext cx="51660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EC6737"/>
                </a:solidFill>
                <a:latin typeface="Poppins Bold"/>
                <a:ea typeface="Poppins Bold"/>
                <a:cs typeface="Poppins Bold"/>
                <a:sym typeface="Poppins Bold"/>
              </a:rPr>
              <a:t>OTOMATIS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59262" y="2930372"/>
            <a:ext cx="1456947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Asynchronous Timer-DMA yang berfokus pada efisiensi “Zero-Overhead” yang dapat mengakuisisi latar belakang tanpa hambatan dan menjawab akar masalah pada pengiriman data.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08014" y="6686598"/>
            <a:ext cx="3018615" cy="161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3"/>
              </a:lnSpc>
              <a:spcBef>
                <a:spcPct val="0"/>
              </a:spcBef>
            </a:pPr>
            <a:r>
              <a:rPr lang="en-US" sz="1831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31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emindaian data dikonfigurasi pada tingkat perangkat keras perangkat (ADC_CR1, ADC_CR2, ADC_SQRx).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33250" y="6686598"/>
            <a:ext cx="3018615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00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engambilan data tidak menunggu putaran program, tetapi dilakukukan otomatis oleh interupsi pewaktu (Timer Interrupt).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59159" y="6686598"/>
            <a:ext cx="3018615" cy="161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3"/>
              </a:lnSpc>
              <a:spcBef>
                <a:spcPct val="0"/>
              </a:spcBef>
            </a:pPr>
            <a:r>
              <a:rPr lang="en-US" sz="1831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Ali</a:t>
            </a:r>
            <a:r>
              <a:rPr lang="en-US" sz="1831">
                <a:solidFill>
                  <a:srgbClr val="222222"/>
                </a:solidFill>
                <a:latin typeface="Garet"/>
                <a:ea typeface="Garet"/>
                <a:cs typeface="Garet"/>
                <a:sym typeface="Garet"/>
              </a:rPr>
              <a:t>ran data selalu update di dalam SRAM, menekan beban penantian komputasi hingga nol persen.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1302" y="3009380"/>
            <a:ext cx="7967998" cy="4746599"/>
            <a:chOff x="0" y="0"/>
            <a:chExt cx="1999065" cy="1190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9065" cy="1190859"/>
            </a:xfrm>
            <a:custGeom>
              <a:avLst/>
              <a:gdLst/>
              <a:ahLst/>
              <a:cxnLst/>
              <a:rect r="r" b="b" t="t" l="l"/>
              <a:pathLst>
                <a:path h="1190859" w="1999065">
                  <a:moveTo>
                    <a:pt x="22347" y="0"/>
                  </a:moveTo>
                  <a:lnTo>
                    <a:pt x="1976717" y="0"/>
                  </a:lnTo>
                  <a:cubicBezTo>
                    <a:pt x="1982644" y="0"/>
                    <a:pt x="1988328" y="2354"/>
                    <a:pt x="1992519" y="6545"/>
                  </a:cubicBezTo>
                  <a:cubicBezTo>
                    <a:pt x="1996710" y="10736"/>
                    <a:pt x="1999065" y="16421"/>
                    <a:pt x="1999065" y="22347"/>
                  </a:cubicBezTo>
                  <a:lnTo>
                    <a:pt x="1999065" y="1168511"/>
                  </a:lnTo>
                  <a:cubicBezTo>
                    <a:pt x="1999065" y="1174438"/>
                    <a:pt x="1996710" y="1180122"/>
                    <a:pt x="1992519" y="1184313"/>
                  </a:cubicBezTo>
                  <a:cubicBezTo>
                    <a:pt x="1988328" y="1188504"/>
                    <a:pt x="1982644" y="1190859"/>
                    <a:pt x="1976717" y="1190859"/>
                  </a:cubicBezTo>
                  <a:lnTo>
                    <a:pt x="22347" y="1190859"/>
                  </a:lnTo>
                  <a:cubicBezTo>
                    <a:pt x="16421" y="1190859"/>
                    <a:pt x="10736" y="1188504"/>
                    <a:pt x="6545" y="1184313"/>
                  </a:cubicBezTo>
                  <a:cubicBezTo>
                    <a:pt x="2354" y="1180122"/>
                    <a:pt x="0" y="1174438"/>
                    <a:pt x="0" y="1168511"/>
                  </a:cubicBezTo>
                  <a:lnTo>
                    <a:pt x="0" y="22347"/>
                  </a:lnTo>
                  <a:cubicBezTo>
                    <a:pt x="0" y="16421"/>
                    <a:pt x="2354" y="10736"/>
                    <a:pt x="6545" y="6545"/>
                  </a:cubicBezTo>
                  <a:cubicBezTo>
                    <a:pt x="10736" y="2354"/>
                    <a:pt x="16421" y="0"/>
                    <a:pt x="22347" y="0"/>
                  </a:cubicBezTo>
                  <a:close/>
                </a:path>
              </a:pathLst>
            </a:custGeom>
            <a:blipFill>
              <a:blip r:embed="rId2"/>
              <a:stretch>
                <a:fillRect l="-11073" t="0" r="-777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31" y="2288655"/>
            <a:ext cx="806559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FUZZY-PID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31" y="4552430"/>
            <a:ext cx="7457668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Matriks kompl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eks dideklarasikan menggunakan atribut konstan agar dialokasikan ke memori Flash statis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Kalkulasi nilai berkoma yang berat digantikan dengan sistem pencarian indeks yang dieksekusi hanya dalam beberapa siklus clock.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Ruang SRAM dinamis berhasil diamankan seratus persen untuk merespons instruksi keadaan darurat.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49105"/>
            <a:ext cx="556141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ROM BASED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471952" y="5995601"/>
            <a:ext cx="4236317" cy="2615982"/>
            <a:chOff x="0" y="0"/>
            <a:chExt cx="1115738" cy="6889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5738" cy="688983"/>
            </a:xfrm>
            <a:custGeom>
              <a:avLst/>
              <a:gdLst/>
              <a:ahLst/>
              <a:cxnLst/>
              <a:rect r="r" b="b" t="t" l="l"/>
              <a:pathLst>
                <a:path h="688983" w="1115738">
                  <a:moveTo>
                    <a:pt x="42033" y="0"/>
                  </a:moveTo>
                  <a:lnTo>
                    <a:pt x="1073705" y="0"/>
                  </a:lnTo>
                  <a:cubicBezTo>
                    <a:pt x="1084853" y="0"/>
                    <a:pt x="1095544" y="4428"/>
                    <a:pt x="1103427" y="12311"/>
                  </a:cubicBezTo>
                  <a:cubicBezTo>
                    <a:pt x="1111309" y="20194"/>
                    <a:pt x="1115738" y="30885"/>
                    <a:pt x="1115738" y="42033"/>
                  </a:cubicBezTo>
                  <a:lnTo>
                    <a:pt x="1115738" y="646950"/>
                  </a:lnTo>
                  <a:cubicBezTo>
                    <a:pt x="1115738" y="658098"/>
                    <a:pt x="1111309" y="668789"/>
                    <a:pt x="1103427" y="676672"/>
                  </a:cubicBezTo>
                  <a:cubicBezTo>
                    <a:pt x="1095544" y="684554"/>
                    <a:pt x="1084853" y="688983"/>
                    <a:pt x="1073705" y="688983"/>
                  </a:cubicBezTo>
                  <a:lnTo>
                    <a:pt x="42033" y="688983"/>
                  </a:lnTo>
                  <a:cubicBezTo>
                    <a:pt x="18819" y="688983"/>
                    <a:pt x="0" y="670164"/>
                    <a:pt x="0" y="646950"/>
                  </a:cubicBezTo>
                  <a:lnTo>
                    <a:pt x="0" y="42033"/>
                  </a:lnTo>
                  <a:cubicBezTo>
                    <a:pt x="0" y="30885"/>
                    <a:pt x="4428" y="20194"/>
                    <a:pt x="12311" y="12311"/>
                  </a:cubicBezTo>
                  <a:cubicBezTo>
                    <a:pt x="20194" y="4428"/>
                    <a:pt x="30885" y="0"/>
                    <a:pt x="420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15738" cy="727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76054" y="6236611"/>
            <a:ext cx="1028114" cy="887917"/>
          </a:xfrm>
          <a:custGeom>
            <a:avLst/>
            <a:gdLst/>
            <a:ahLst/>
            <a:cxnLst/>
            <a:rect r="r" b="b" t="t" l="l"/>
            <a:pathLst>
              <a:path h="887917" w="1028114">
                <a:moveTo>
                  <a:pt x="0" y="0"/>
                </a:moveTo>
                <a:lnTo>
                  <a:pt x="1028114" y="0"/>
                </a:lnTo>
                <a:lnTo>
                  <a:pt x="1028114" y="887916"/>
                </a:lnTo>
                <a:lnTo>
                  <a:pt x="0" y="88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00940" y="3088888"/>
            <a:ext cx="4455440" cy="5758242"/>
          </a:xfrm>
          <a:custGeom>
            <a:avLst/>
            <a:gdLst/>
            <a:ahLst/>
            <a:cxnLst/>
            <a:rect r="r" b="b" t="t" l="l"/>
            <a:pathLst>
              <a:path h="5758242" w="4455440">
                <a:moveTo>
                  <a:pt x="0" y="0"/>
                </a:moveTo>
                <a:lnTo>
                  <a:pt x="4455440" y="0"/>
                </a:lnTo>
                <a:lnTo>
                  <a:pt x="4455440" y="5758242"/>
                </a:lnTo>
                <a:lnTo>
                  <a:pt x="0" y="57582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7455" y="7057852"/>
            <a:ext cx="308531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Waktu Latensi Bare Eksekusi Metal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61469" y="7774381"/>
            <a:ext cx="2457283" cy="60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3"/>
              </a:lnSpc>
            </a:pPr>
            <a:r>
              <a:rPr lang="en-US" sz="369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 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3794" y="3512751"/>
            <a:ext cx="8472634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</a:t>
            </a: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em mengawasi margin deviasi antar sensor di atas 15°C atau ancaman kerusakan fisis melampaui 80°C. Intervensi tidak menunggu antrean baris kode pembacaan selesai diproses. Mikrokontroler memanipulasi register secara instan untuk memutus arus pemanas total dan memutar kipas pendingin secara maksimum.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0141" y="1691284"/>
            <a:ext cx="604919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2066" y="1691284"/>
            <a:ext cx="4643867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OVERRIDE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42440" y="3201119"/>
            <a:ext cx="7652569" cy="4994971"/>
            <a:chOff x="0" y="0"/>
            <a:chExt cx="2033112" cy="1327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3113" cy="1327049"/>
            </a:xfrm>
            <a:custGeom>
              <a:avLst/>
              <a:gdLst/>
              <a:ahLst/>
              <a:cxnLst/>
              <a:rect r="r" b="b" t="t" l="l"/>
              <a:pathLst>
                <a:path h="1327049" w="2033113">
                  <a:moveTo>
                    <a:pt x="23269" y="0"/>
                  </a:moveTo>
                  <a:lnTo>
                    <a:pt x="2009844" y="0"/>
                  </a:lnTo>
                  <a:cubicBezTo>
                    <a:pt x="2016015" y="0"/>
                    <a:pt x="2021934" y="2452"/>
                    <a:pt x="2026297" y="6815"/>
                  </a:cubicBezTo>
                  <a:cubicBezTo>
                    <a:pt x="2030661" y="11179"/>
                    <a:pt x="2033113" y="17097"/>
                    <a:pt x="2033113" y="23269"/>
                  </a:cubicBezTo>
                  <a:lnTo>
                    <a:pt x="2033113" y="1303781"/>
                  </a:lnTo>
                  <a:cubicBezTo>
                    <a:pt x="2033113" y="1316632"/>
                    <a:pt x="2022695" y="1327049"/>
                    <a:pt x="2009844" y="1327049"/>
                  </a:cubicBezTo>
                  <a:lnTo>
                    <a:pt x="23269" y="1327049"/>
                  </a:lnTo>
                  <a:cubicBezTo>
                    <a:pt x="10418" y="1327049"/>
                    <a:pt x="0" y="1316632"/>
                    <a:pt x="0" y="1303781"/>
                  </a:cubicBezTo>
                  <a:lnTo>
                    <a:pt x="0" y="23269"/>
                  </a:lnTo>
                  <a:cubicBezTo>
                    <a:pt x="0" y="10418"/>
                    <a:pt x="10418" y="0"/>
                    <a:pt x="2326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27" r="0" b="-327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31" y="2288655"/>
            <a:ext cx="806559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TELEMETRI DELTA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31" y="4552430"/>
            <a:ext cx="8065591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Sistem menola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 pengiriman teks mentah dan hanya mengirimkan selisih nilai suhu terkini untuk mencegah penyumbatan data. 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Pengiriman string sepenuhnya dikelola oleh register USART ke PC tanpa menahan kerja logika utama. 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Waktu sisa dari komputasi asinkron dimanfaatkan CPU untuk memastikan instrumen terhindar dari kondisi macet total (freeze).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49105"/>
            <a:ext cx="745769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COMPRESSION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42440" y="3201119"/>
            <a:ext cx="7652569" cy="4994971"/>
            <a:chOff x="0" y="0"/>
            <a:chExt cx="2033112" cy="1327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3113" cy="1327049"/>
            </a:xfrm>
            <a:custGeom>
              <a:avLst/>
              <a:gdLst/>
              <a:ahLst/>
              <a:cxnLst/>
              <a:rect r="r" b="b" t="t" l="l"/>
              <a:pathLst>
                <a:path h="1327049" w="2033113">
                  <a:moveTo>
                    <a:pt x="23269" y="0"/>
                  </a:moveTo>
                  <a:lnTo>
                    <a:pt x="2009844" y="0"/>
                  </a:lnTo>
                  <a:cubicBezTo>
                    <a:pt x="2016015" y="0"/>
                    <a:pt x="2021934" y="2452"/>
                    <a:pt x="2026297" y="6815"/>
                  </a:cubicBezTo>
                  <a:cubicBezTo>
                    <a:pt x="2030661" y="11179"/>
                    <a:pt x="2033113" y="17097"/>
                    <a:pt x="2033113" y="23269"/>
                  </a:cubicBezTo>
                  <a:lnTo>
                    <a:pt x="2033113" y="1303781"/>
                  </a:lnTo>
                  <a:cubicBezTo>
                    <a:pt x="2033113" y="1316632"/>
                    <a:pt x="2022695" y="1327049"/>
                    <a:pt x="2009844" y="1327049"/>
                  </a:cubicBezTo>
                  <a:lnTo>
                    <a:pt x="23269" y="1327049"/>
                  </a:lnTo>
                  <a:cubicBezTo>
                    <a:pt x="10418" y="1327049"/>
                    <a:pt x="0" y="1316632"/>
                    <a:pt x="0" y="1303781"/>
                  </a:cubicBezTo>
                  <a:lnTo>
                    <a:pt x="0" y="23269"/>
                  </a:lnTo>
                  <a:cubicBezTo>
                    <a:pt x="0" y="10418"/>
                    <a:pt x="10418" y="0"/>
                    <a:pt x="2326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07" r="0" b="-1407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31" y="2288655"/>
            <a:ext cx="806559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RANGKAIAN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31" y="4552430"/>
            <a:ext cx="8065591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Mengguna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kan arsitektur ARM Cortex-M4 (STM32F407VG) untuk menjamin presisi eksekusi tertinggi. 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Memadukan sensor suhu spesifikasi mutakhir DHT22 bersama ekosistem Grove temperature sensor guna menghasilkan komparasi data pembacaan yang presisi.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Modulasi keluaran ditransmisikan ke transistor daya untuk memanipulasi pemanas dan kipas secara deterministik.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49105"/>
            <a:ext cx="745769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FISIS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18394" y="2939749"/>
            <a:ext cx="7076181" cy="5864046"/>
            <a:chOff x="0" y="0"/>
            <a:chExt cx="1557137" cy="1290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7137" cy="1290403"/>
            </a:xfrm>
            <a:custGeom>
              <a:avLst/>
              <a:gdLst/>
              <a:ahLst/>
              <a:cxnLst/>
              <a:rect r="r" b="b" t="t" l="l"/>
              <a:pathLst>
                <a:path h="1290403" w="1557137">
                  <a:moveTo>
                    <a:pt x="25164" y="0"/>
                  </a:moveTo>
                  <a:lnTo>
                    <a:pt x="1531973" y="0"/>
                  </a:lnTo>
                  <a:cubicBezTo>
                    <a:pt x="1538647" y="0"/>
                    <a:pt x="1545048" y="2651"/>
                    <a:pt x="1549767" y="7370"/>
                  </a:cubicBezTo>
                  <a:cubicBezTo>
                    <a:pt x="1554486" y="12089"/>
                    <a:pt x="1557137" y="18490"/>
                    <a:pt x="1557137" y="25164"/>
                  </a:cubicBezTo>
                  <a:lnTo>
                    <a:pt x="1557137" y="1265239"/>
                  </a:lnTo>
                  <a:cubicBezTo>
                    <a:pt x="1557137" y="1271913"/>
                    <a:pt x="1554486" y="1278313"/>
                    <a:pt x="1549767" y="1283033"/>
                  </a:cubicBezTo>
                  <a:cubicBezTo>
                    <a:pt x="1545048" y="1287752"/>
                    <a:pt x="1538647" y="1290403"/>
                    <a:pt x="1531973" y="1290403"/>
                  </a:cubicBezTo>
                  <a:lnTo>
                    <a:pt x="25164" y="1290403"/>
                  </a:lnTo>
                  <a:cubicBezTo>
                    <a:pt x="18490" y="1290403"/>
                    <a:pt x="12089" y="1287752"/>
                    <a:pt x="7370" y="1283033"/>
                  </a:cubicBezTo>
                  <a:cubicBezTo>
                    <a:pt x="2651" y="1278313"/>
                    <a:pt x="0" y="1271913"/>
                    <a:pt x="0" y="1265239"/>
                  </a:cubicBezTo>
                  <a:lnTo>
                    <a:pt x="0" y="25164"/>
                  </a:lnTo>
                  <a:cubicBezTo>
                    <a:pt x="0" y="18490"/>
                    <a:pt x="2651" y="12089"/>
                    <a:pt x="7370" y="7370"/>
                  </a:cubicBezTo>
                  <a:cubicBezTo>
                    <a:pt x="12089" y="2651"/>
                    <a:pt x="18490" y="0"/>
                    <a:pt x="25164" y="0"/>
                  </a:cubicBezTo>
                  <a:close/>
                </a:path>
              </a:pathLst>
            </a:custGeom>
            <a:blipFill>
              <a:blip r:embed="rId4"/>
              <a:stretch>
                <a:fillRect l="-5308" t="0" r="-530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93425" y="2939749"/>
            <a:ext cx="7076181" cy="5864046"/>
            <a:chOff x="0" y="0"/>
            <a:chExt cx="1557137" cy="1290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7137" cy="1290403"/>
            </a:xfrm>
            <a:custGeom>
              <a:avLst/>
              <a:gdLst/>
              <a:ahLst/>
              <a:cxnLst/>
              <a:rect r="r" b="b" t="t" l="l"/>
              <a:pathLst>
                <a:path h="1290403" w="1557137">
                  <a:moveTo>
                    <a:pt x="25164" y="0"/>
                  </a:moveTo>
                  <a:lnTo>
                    <a:pt x="1531973" y="0"/>
                  </a:lnTo>
                  <a:cubicBezTo>
                    <a:pt x="1538647" y="0"/>
                    <a:pt x="1545048" y="2651"/>
                    <a:pt x="1549767" y="7370"/>
                  </a:cubicBezTo>
                  <a:cubicBezTo>
                    <a:pt x="1554486" y="12089"/>
                    <a:pt x="1557137" y="18490"/>
                    <a:pt x="1557137" y="25164"/>
                  </a:cubicBezTo>
                  <a:lnTo>
                    <a:pt x="1557137" y="1265239"/>
                  </a:lnTo>
                  <a:cubicBezTo>
                    <a:pt x="1557137" y="1271913"/>
                    <a:pt x="1554486" y="1278313"/>
                    <a:pt x="1549767" y="1283033"/>
                  </a:cubicBezTo>
                  <a:cubicBezTo>
                    <a:pt x="1545048" y="1287752"/>
                    <a:pt x="1538647" y="1290403"/>
                    <a:pt x="1531973" y="1290403"/>
                  </a:cubicBezTo>
                  <a:lnTo>
                    <a:pt x="25164" y="1290403"/>
                  </a:lnTo>
                  <a:cubicBezTo>
                    <a:pt x="18490" y="1290403"/>
                    <a:pt x="12089" y="1287752"/>
                    <a:pt x="7370" y="1283033"/>
                  </a:cubicBezTo>
                  <a:cubicBezTo>
                    <a:pt x="2651" y="1278313"/>
                    <a:pt x="0" y="1271913"/>
                    <a:pt x="0" y="1265239"/>
                  </a:cubicBezTo>
                  <a:lnTo>
                    <a:pt x="0" y="25164"/>
                  </a:lnTo>
                  <a:cubicBezTo>
                    <a:pt x="0" y="18490"/>
                    <a:pt x="2651" y="12089"/>
                    <a:pt x="7370" y="7370"/>
                  </a:cubicBezTo>
                  <a:cubicBezTo>
                    <a:pt x="12089" y="2651"/>
                    <a:pt x="18490" y="0"/>
                    <a:pt x="25164" y="0"/>
                  </a:cubicBezTo>
                  <a:close/>
                </a:path>
              </a:pathLst>
            </a:custGeom>
            <a:blipFill>
              <a:blip r:embed="rId5"/>
              <a:stretch>
                <a:fillRect l="-8691" t="0" r="-869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577790" y="1688799"/>
            <a:ext cx="7132420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4127" y="1688799"/>
            <a:ext cx="451608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SIMULASI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78710" y="2938944"/>
            <a:ext cx="11130581" cy="5605257"/>
            <a:chOff x="0" y="0"/>
            <a:chExt cx="3234940" cy="16290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4941" cy="1629086"/>
            </a:xfrm>
            <a:custGeom>
              <a:avLst/>
              <a:gdLst/>
              <a:ahLst/>
              <a:cxnLst/>
              <a:rect r="r" b="b" t="t" l="l"/>
              <a:pathLst>
                <a:path h="1629086" w="3234941">
                  <a:moveTo>
                    <a:pt x="15998" y="0"/>
                  </a:moveTo>
                  <a:lnTo>
                    <a:pt x="3218943" y="0"/>
                  </a:lnTo>
                  <a:cubicBezTo>
                    <a:pt x="3227778" y="0"/>
                    <a:pt x="3234941" y="7162"/>
                    <a:pt x="3234941" y="15998"/>
                  </a:cubicBezTo>
                  <a:lnTo>
                    <a:pt x="3234941" y="1613088"/>
                  </a:lnTo>
                  <a:cubicBezTo>
                    <a:pt x="3234941" y="1617331"/>
                    <a:pt x="3233255" y="1621400"/>
                    <a:pt x="3230255" y="1624400"/>
                  </a:cubicBezTo>
                  <a:cubicBezTo>
                    <a:pt x="3227255" y="1627400"/>
                    <a:pt x="3223186" y="1629086"/>
                    <a:pt x="3218943" y="1629086"/>
                  </a:cubicBezTo>
                  <a:lnTo>
                    <a:pt x="15998" y="1629086"/>
                  </a:lnTo>
                  <a:cubicBezTo>
                    <a:pt x="7162" y="1629086"/>
                    <a:pt x="0" y="1621923"/>
                    <a:pt x="0" y="1613088"/>
                  </a:cubicBezTo>
                  <a:lnTo>
                    <a:pt x="0" y="15998"/>
                  </a:lnTo>
                  <a:cubicBezTo>
                    <a:pt x="0" y="11755"/>
                    <a:pt x="1685" y="7686"/>
                    <a:pt x="4686" y="4686"/>
                  </a:cubicBezTo>
                  <a:cubicBezTo>
                    <a:pt x="7686" y="1685"/>
                    <a:pt x="11755" y="0"/>
                    <a:pt x="1599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56" r="0" b="-125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109318" y="1497493"/>
            <a:ext cx="6069364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25655" y="1497493"/>
            <a:ext cx="3453027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GRAFIK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15434" y="2876550"/>
          <a:ext cx="15657131" cy="5819775"/>
        </p:xfrm>
        <a:graphic>
          <a:graphicData uri="http://schemas.openxmlformats.org/drawingml/2006/table">
            <a:tbl>
              <a:tblPr/>
              <a:tblGrid>
                <a:gridCol w="3876011"/>
                <a:gridCol w="5890560"/>
                <a:gridCol w="5890560"/>
              </a:tblGrid>
              <a:tr h="10258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Metode Polling Sekuensial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99F387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Metode SAFE-FPID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Beban Siklus CPU (I/O)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Tinggi (CPU tertahan delay konversi)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Nol (Berjalan di latar belakang via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DMA)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Alokasi Memori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SRAM Dinamis (Rentan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fragmentasi 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memori)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Statis di Flash/ROM (.rodata) via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Pointer </a:t>
                      </a: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Lookup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Kecepatan Mitigasi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Lambat (Ketergantungan eksekusi pada Library 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software)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Instan Oms (Menimpa register TIMx  ke CCR </a:t>
                      </a: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langsung)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Efisiensi Bandwith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Kasar (Transfer raw data yang menyumbat </a:t>
                      </a:r>
                      <a:r>
                        <a:rPr lang="en-US" sz="2000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buffer)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Efisien (Transmisi kompresi Delta 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paralel </a:t>
                      </a:r>
                      <a:r>
                        <a:rPr lang="en-US" sz="2000">
                          <a:solidFill>
                            <a:srgbClr val="99F387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asinkron)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918491" y="1399526"/>
            <a:ext cx="1045101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KOMPARASI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45251" y="1399526"/>
            <a:ext cx="512425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EE3F1E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31" y="9229725"/>
            <a:ext cx="11860769" cy="19050"/>
          </a:xfrm>
          <a:prstGeom prst="line">
            <a:avLst/>
          </a:prstGeom>
          <a:ln cap="flat" w="19050">
            <a:solidFill>
              <a:srgbClr val="EE3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476617" cy="561326"/>
          </a:xfrm>
          <a:custGeom>
            <a:avLst/>
            <a:gdLst/>
            <a:ahLst/>
            <a:cxnLst/>
            <a:rect r="r" b="b" t="t" l="l"/>
            <a:pathLst>
              <a:path h="561326" w="476617">
                <a:moveTo>
                  <a:pt x="0" y="0"/>
                </a:moveTo>
                <a:lnTo>
                  <a:pt x="476617" y="0"/>
                </a:lnTo>
                <a:lnTo>
                  <a:pt x="476617" y="561326"/>
                </a:lnTo>
                <a:lnTo>
                  <a:pt x="0" y="56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85517" y="4194175"/>
            <a:ext cx="9916966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0130" y="8918575"/>
            <a:ext cx="38791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Teknik Instrumentasi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0141" y="1055363"/>
            <a:ext cx="487997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PEMROGRAMAN KONTROLER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DAHM7fb-Yhg</dc:identifier>
  <dcterms:modified xsi:type="dcterms:W3CDTF">2011-08-01T06:04:30Z</dcterms:modified>
  <cp:revision>1</cp:revision>
  <dc:title>Kelompok 8/4B_033&amp;078_ETS PEMKON</dc:title>
</cp:coreProperties>
</file>